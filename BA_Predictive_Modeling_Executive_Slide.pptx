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importance</c:v>
                </c:pt>
              </c:strCache>
            </c:strRef>
          </c:tx>
          <c:spPr>
            <a:solidFill>
              <a:srgbClr val="075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43A6C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num_passengers</c:v>
                </c:pt>
                <c:pt idx="1">
                  <c:v>add_ons_count</c:v>
                </c:pt>
                <c:pt idx="2">
                  <c:v>flight_duration</c:v>
                </c:pt>
                <c:pt idx="3">
                  <c:v>flight_day</c:v>
                </c:pt>
                <c:pt idx="4">
                  <c:v>flight_hour</c:v>
                </c:pt>
                <c:pt idx="5">
                  <c:v>length_of_stay</c:v>
                </c:pt>
                <c:pt idx="6">
                  <c:v>purchase_lead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35</c:v>
                </c:pt>
                <c:pt idx="2">
                  <c:v>36</c:v>
                </c:pt>
                <c:pt idx="3">
                  <c:v>53</c:v>
                </c:pt>
                <c:pt idx="4">
                  <c:v>78</c:v>
                </c:pt>
                <c:pt idx="5">
                  <c:v>91</c:v>
                </c:pt>
                <c:pt idx="6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18-BF4E-8D79-1DD706F242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b"/>
        <c:majorGridlines>
          <c:spPr>
            <a:ln w="6350" cap="flat">
              <a:solidFill>
                <a:srgbClr val="E2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A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1E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7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nic64/Predicting-British-Airways-customer-buying-behavio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75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B22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/  CUSTOMER ACQUISITION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BA Booking Completion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0" y="384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50,000 sessions · May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47120" y="9144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8" name="Image 0" descr="GitHub repository: Predicting British Airways customer buying behavior">
            <a:hlinkClick r:id="rId3" tooltip="View the project on GitHub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552" y="118872"/>
            <a:ext cx="722376" cy="7223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0" y="2743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C8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&gt;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149840" y="4937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github.com/sonic64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1234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when, not the who, predicts booking.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17830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lead-time, length of stay and flight timing drive 70%+ of the model's predictive power — outranking route, origin and ancillary purchases.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697480"/>
            <a:ext cx="1371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697480"/>
            <a:ext cx="1371600" cy="54864"/>
          </a:xfrm>
          <a:prstGeom prst="rect">
            <a:avLst/>
          </a:prstGeom>
          <a:solidFill>
            <a:srgbClr val="EB2226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5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80.2%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57200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920240" y="2697480"/>
            <a:ext cx="1371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920240" y="2697480"/>
            <a:ext cx="1371600" cy="54864"/>
          </a:xfrm>
          <a:prstGeom prst="rect">
            <a:avLst/>
          </a:prstGeom>
          <a:solidFill>
            <a:srgbClr val="EB2226"/>
          </a:solidFill>
          <a:ln/>
        </p:spPr>
      </p:sp>
      <p:sp>
        <p:nvSpPr>
          <p:cNvPr id="20" name="Text 17"/>
          <p:cNvSpPr/>
          <p:nvPr/>
        </p:nvSpPr>
        <p:spPr>
          <a:xfrm>
            <a:off x="192024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5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0.79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920240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92024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0.50 baseline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383280" y="2697480"/>
            <a:ext cx="1371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383280" y="2697480"/>
            <a:ext cx="1371600" cy="54864"/>
          </a:xfrm>
          <a:prstGeom prst="rect">
            <a:avLst/>
          </a:prstGeom>
          <a:solidFill>
            <a:srgbClr val="EB2226"/>
          </a:solidFill>
          <a:ln/>
        </p:spPr>
      </p:sp>
      <p:sp>
        <p:nvSpPr>
          <p:cNvPr id="25" name="Text 22"/>
          <p:cNvSpPr/>
          <p:nvPr/>
        </p:nvSpPr>
        <p:spPr>
          <a:xfrm>
            <a:off x="338328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5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50k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3383280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analyzed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38328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raw / 22 features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846320" y="2697480"/>
            <a:ext cx="1371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846320" y="2697480"/>
            <a:ext cx="1371600" cy="54864"/>
          </a:xfrm>
          <a:prstGeom prst="rect">
            <a:avLst/>
          </a:prstGeom>
          <a:solidFill>
            <a:srgbClr val="EB2226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5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4846320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conversion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46320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Class-imbalanced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39319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075AAA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60120" y="421538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high-lead-time shoppers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60120" y="44348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price-lock and fare-hold offers to customers browsing &gt;50 days out — the single strongest predictor in the model.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57200" y="4965192"/>
            <a:ext cx="365760" cy="365760"/>
          </a:xfrm>
          <a:prstGeom prst="ellipse">
            <a:avLst/>
          </a:prstGeom>
          <a:solidFill>
            <a:srgbClr val="075AAA"/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" y="4965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60120" y="4928616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by length of stay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60120" y="514807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stays → business-flex bundles. Long stays → baggage / meal bundles. Length of stay is the #2 driver.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57200" y="5678424"/>
            <a:ext cx="365760" cy="365760"/>
          </a:xfrm>
          <a:prstGeom prst="ellipse">
            <a:avLst/>
          </a:prstGeom>
          <a:solidFill>
            <a:srgbClr val="075AAA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960120" y="564184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promotions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60120" y="586130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small fare incentives on weaker-converting departure hours and weekdays; protect margin on peak slots.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658368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OF BOOKING COMPLETION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58368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3A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feature importance</a:t>
            </a:r>
            <a:endParaRPr lang="en-US" sz="1800" dirty="0"/>
          </a:p>
        </p:txBody>
      </p:sp>
      <p:graphicFrame>
        <p:nvGraphicFramePr>
          <p:cNvPr id="48" name="Chart 0"/>
          <p:cNvGraphicFramePr/>
          <p:nvPr/>
        </p:nvGraphicFramePr>
        <p:xfrm>
          <a:off x="6583680" y="1874520"/>
          <a:ext cx="5120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9" name="Text 45"/>
          <p:cNvSpPr/>
          <p:nvPr/>
        </p:nvSpPr>
        <p:spPr>
          <a:xfrm>
            <a:off x="6583680" y="4251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features account for ~70% of split contribution — what is being booked matters less than when the customer is shopping.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6583680" y="4800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POINT — TUNE TO THE CAMPAIGN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6583680" y="5074920"/>
            <a:ext cx="1645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6583680" y="5074920"/>
            <a:ext cx="1645920" cy="45720"/>
          </a:xfrm>
          <a:prstGeom prst="rect">
            <a:avLst/>
          </a:prstGeom>
          <a:solidFill>
            <a:srgbClr val="075AAA"/>
          </a:solidFill>
          <a:ln/>
        </p:spPr>
      </p:sp>
      <p:sp>
        <p:nvSpPr>
          <p:cNvPr id="53" name="Text 49"/>
          <p:cNvSpPr/>
          <p:nvPr/>
        </p:nvSpPr>
        <p:spPr>
          <a:xfrm>
            <a:off x="6656832" y="516636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0.2</a:t>
            </a: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6656832" y="542239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retargeting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6675120" y="57332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7452360" y="57150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75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1400" dirty="0"/>
          </a:p>
        </p:txBody>
      </p:sp>
      <p:sp>
        <p:nvSpPr>
          <p:cNvPr id="57" name="Text 53"/>
          <p:cNvSpPr/>
          <p:nvPr/>
        </p:nvSpPr>
        <p:spPr>
          <a:xfrm>
            <a:off x="6675120" y="6044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7452360" y="60258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75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400" dirty="0"/>
          </a:p>
        </p:txBody>
      </p:sp>
      <p:sp>
        <p:nvSpPr>
          <p:cNvPr id="59" name="Shape 55"/>
          <p:cNvSpPr/>
          <p:nvPr/>
        </p:nvSpPr>
        <p:spPr>
          <a:xfrm>
            <a:off x="8321040" y="5074920"/>
            <a:ext cx="1645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6"/>
          <p:cNvSpPr/>
          <p:nvPr/>
        </p:nvSpPr>
        <p:spPr>
          <a:xfrm>
            <a:off x="8321040" y="5074920"/>
            <a:ext cx="1645920" cy="45720"/>
          </a:xfrm>
          <a:prstGeom prst="rect">
            <a:avLst/>
          </a:prstGeom>
          <a:solidFill>
            <a:srgbClr val="EB2226"/>
          </a:solidFill>
          <a:ln/>
        </p:spPr>
      </p:sp>
      <p:sp>
        <p:nvSpPr>
          <p:cNvPr id="61" name="Text 57"/>
          <p:cNvSpPr/>
          <p:nvPr/>
        </p:nvSpPr>
        <p:spPr>
          <a:xfrm>
            <a:off x="8394192" y="516636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0.4</a:t>
            </a:r>
            <a:endParaRPr lang="en-US" sz="1100" dirty="0"/>
          </a:p>
        </p:txBody>
      </p:sp>
      <p:sp>
        <p:nvSpPr>
          <p:cNvPr id="62" name="Text 58"/>
          <p:cNvSpPr/>
          <p:nvPr/>
        </p:nvSpPr>
        <p:spPr>
          <a:xfrm>
            <a:off x="8394192" y="542239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— balanced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8412480" y="57332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9189720" y="57150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75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8412480" y="6044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9189720" y="60258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75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1400" dirty="0"/>
          </a:p>
        </p:txBody>
      </p:sp>
      <p:sp>
        <p:nvSpPr>
          <p:cNvPr id="67" name="Shape 63"/>
          <p:cNvSpPr/>
          <p:nvPr/>
        </p:nvSpPr>
        <p:spPr>
          <a:xfrm>
            <a:off x="10058400" y="5074920"/>
            <a:ext cx="1645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8" name="Shape 64"/>
          <p:cNvSpPr/>
          <p:nvPr/>
        </p:nvSpPr>
        <p:spPr>
          <a:xfrm>
            <a:off x="10058400" y="5074920"/>
            <a:ext cx="1645920" cy="45720"/>
          </a:xfrm>
          <a:prstGeom prst="rect">
            <a:avLst/>
          </a:prstGeom>
          <a:solidFill>
            <a:srgbClr val="075AAA"/>
          </a:solidFill>
          <a:ln/>
        </p:spPr>
      </p:sp>
      <p:sp>
        <p:nvSpPr>
          <p:cNvPr id="69" name="Text 65"/>
          <p:cNvSpPr/>
          <p:nvPr/>
        </p:nvSpPr>
        <p:spPr>
          <a:xfrm>
            <a:off x="10131552" y="516636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</a:t>
            </a:r>
            <a:endParaRPr lang="en-US" sz="1100" dirty="0"/>
          </a:p>
        </p:txBody>
      </p:sp>
      <p:sp>
        <p:nvSpPr>
          <p:cNvPr id="70" name="Text 66"/>
          <p:cNvSpPr/>
          <p:nvPr/>
        </p:nvSpPr>
        <p:spPr>
          <a:xfrm>
            <a:off x="10131552" y="542239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 interventions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10149840" y="57332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10927080" y="57150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75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1400" dirty="0"/>
          </a:p>
        </p:txBody>
      </p:sp>
      <p:sp>
        <p:nvSpPr>
          <p:cNvPr id="73" name="Text 69"/>
          <p:cNvSpPr/>
          <p:nvPr/>
        </p:nvSpPr>
        <p:spPr>
          <a:xfrm>
            <a:off x="10149840" y="6044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74" name="Text 70"/>
          <p:cNvSpPr/>
          <p:nvPr/>
        </p:nvSpPr>
        <p:spPr>
          <a:xfrm>
            <a:off x="10927080" y="60258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75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1400" dirty="0"/>
          </a:p>
        </p:txBody>
      </p:sp>
      <p:sp>
        <p:nvSpPr>
          <p:cNvPr id="75" name="Shape 7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43A6C"/>
          </a:solidFill>
          <a:ln/>
        </p:spPr>
      </p:sp>
      <p:sp>
        <p:nvSpPr>
          <p:cNvPr id="76" name="Text 72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 ·  DATA SCIENCE  ·  CONFIDENTIAL</a:t>
            </a:r>
            <a:endParaRPr lang="en-US" sz="900" dirty="0"/>
          </a:p>
        </p:txBody>
      </p:sp>
      <p:sp>
        <p:nvSpPr>
          <p:cNvPr id="77" name="Text 73"/>
          <p:cNvSpPr/>
          <p:nvPr/>
        </p:nvSpPr>
        <p:spPr>
          <a:xfrm>
            <a:off x="4114800" y="65653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 (n=1000, depth=15)  ·  Test set n=10,000  ·  See QR code for full evaluation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272</Words>
  <Application>Microsoft Macintosh PowerPoint</Application>
  <PresentationFormat>Widescreen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BA Customer Booking Completion</dc:title>
  <dc:subject>PptxGenJS Presentation</dc:subject>
  <dc:creator>Data Science Team</dc:creator>
  <cp:lastModifiedBy>Chen-Yen Yang</cp:lastModifiedBy>
  <cp:revision>2</cp:revision>
  <dcterms:created xsi:type="dcterms:W3CDTF">2026-05-12T22:49:08Z</dcterms:created>
  <dcterms:modified xsi:type="dcterms:W3CDTF">2026-05-12T22:51:52Z</dcterms:modified>
</cp:coreProperties>
</file>